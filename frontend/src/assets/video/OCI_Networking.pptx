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73c168b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873c168b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873c168b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86384" y="1243584"/>
            <a:ext cx="7406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OCI Networking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1965960"/>
            <a:ext cx="6675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AC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2B7AC"/>
                </a:solidFill>
                <a:latin typeface="Arial"/>
                <a:ea typeface="Arial"/>
                <a:cs typeface="Arial"/>
                <a:sym typeface="Arial"/>
              </a:rPr>
              <a:t>Grupo 1 — Infraestrutura e Cloud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41248" y="2514600"/>
            <a:ext cx="6903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BF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6EBF5"/>
                </a:solidFill>
                <a:latin typeface="Arial"/>
                <a:ea typeface="Arial"/>
                <a:cs typeface="Arial"/>
                <a:sym typeface="Arial"/>
              </a:rPr>
              <a:t>Base de tudo: computação em nuvem, arquitetura e conectividade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41248" y="3749040"/>
            <a:ext cx="2103120" cy="347472"/>
          </a:xfrm>
          <a:prstGeom prst="rect">
            <a:avLst/>
          </a:prstGeom>
          <a:solidFill>
            <a:srgbClr val="FFF1EE"/>
          </a:solidFill>
          <a:ln cap="flat" cmpd="sng" w="12700">
            <a:solidFill>
              <a:srgbClr val="F0C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IaaS / PaaS / SaaS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127248" y="3749040"/>
            <a:ext cx="1737360" cy="347472"/>
          </a:xfrm>
          <a:prstGeom prst="rect">
            <a:avLst/>
          </a:prstGeom>
          <a:solidFill>
            <a:srgbClr val="FFF1EE"/>
          </a:solidFill>
          <a:ln cap="flat" cmpd="sng" w="12700">
            <a:solidFill>
              <a:srgbClr val="F0C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Regiões &amp; ADs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47488" y="3749040"/>
            <a:ext cx="2240280" cy="347472"/>
          </a:xfrm>
          <a:prstGeom prst="rect">
            <a:avLst/>
          </a:prstGeom>
          <a:solidFill>
            <a:srgbClr val="FFF1EE"/>
          </a:solidFill>
          <a:ln cap="flat" cmpd="sng" w="12700">
            <a:solidFill>
              <a:srgbClr val="F0C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VPN vs FastConnect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79792" y="3749040"/>
            <a:ext cx="2377440" cy="347472"/>
          </a:xfrm>
          <a:prstGeom prst="rect">
            <a:avLst/>
          </a:prstGeom>
          <a:solidFill>
            <a:srgbClr val="FFF1EE"/>
          </a:solidFill>
          <a:ln cap="flat" cmpd="sng" w="12700">
            <a:solidFill>
              <a:srgbClr val="F0C9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Alta Disponibilidade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41248" y="4800600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 segura, isolada e escalável para a nuvem Oracle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835640" y="59893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AC3D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AC3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Roteiro de apresentação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15727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508760" y="1435608"/>
            <a:ext cx="9829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Introdução e Fundamentos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OCI Networking, problema que resolve, cloud computing e modelos de implantação.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22960" y="26517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08760" y="2514600"/>
            <a:ext cx="9829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Arquitetura e Segurança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Regiões, ADs, domínios de falha, VCN, IAM, encryption e segurança em cloud.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" y="3730752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508760" y="3593592"/>
            <a:ext cx="9829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Conectividade e Resiliência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VPN, FastConnect, alta disponibilidade, disaster recovery e estratégia multicloud.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22960" y="480974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463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7463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508760" y="4672584"/>
            <a:ext cx="982980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Uso Prático e Análise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Vantagens competitivas, casos de uso, limitações e fechamento.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O que é OCI Networking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Base da conectividade na Oracle Cloud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5800" y="1600200"/>
            <a:ext cx="530352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Definição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Serviços de rede da OCI para criar, configurar e gerenciar redes virtuais seguras e isoladas.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63640" y="1600200"/>
            <a:ext cx="525780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Escopo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Inclui VCNs, sub-redes, rotas, gateways, regras de segurança e conectividade híbrida.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5800" y="2971800"/>
            <a:ext cx="530352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Importância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Conecta recursos OCI entre si e com ambientes externos, com controle e escalabilidade.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263640" y="2971800"/>
            <a:ext cx="5257800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Papel estratégico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Permite arquiteturas seguras, resilientes e integradas a datacenters e outras clouds.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94350" y="5240575"/>
            <a:ext cx="1092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00">
                <a:solidFill>
                  <a:schemeClr val="dk1"/>
                </a:solidFill>
              </a:rPr>
              <a:t>“OCI Networking é a base que garante isolamento, segurança e conectividade da nuvem Oracle.”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Problemas que o OCI Networking resolve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Conectividade, controle e continuidade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85800" y="1600200"/>
            <a:ext cx="34290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Conectividade segura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Conecta aplicações, bancos de dados e servidores com segurança e baixa latência.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26280" y="1600200"/>
            <a:ext cx="34290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Isolamento por VCN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Separa ambientes por redes privadas virtuais e controla o endereçamento IP.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366760" y="1600200"/>
            <a:ext cx="342900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Controle de acesso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Define quem acessa cada recurso usando Security Lists e Network Security Groups.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2514600" y="3703320"/>
            <a:ext cx="361188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Conectividade híbrida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Liga OCI, datacenter local e outras clouds por VPN ou FastConnect.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629400" y="3703320"/>
            <a:ext cx="3611880" cy="1353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Continuidade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Apoia alta disponibilidade com redundância, failover e distribuição de carga.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Computação em Nuvem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IaaS, PaaS e SaaS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731520" y="1691640"/>
            <a:ext cx="3474720" cy="3108960"/>
          </a:xfrm>
          <a:prstGeom prst="rect">
            <a:avLst/>
          </a:prstGeom>
          <a:solidFill>
            <a:srgbClr val="FFF3F0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IaaS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Infraestrutura como serviço: compute, storage e rede. O cliente controla a infraestrutura lógica. Ex.: OCI Compute e Block Storage.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389120" y="1691640"/>
            <a:ext cx="34747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PaaS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Plataforma pronta para desenvolver e executar aplicações sem gerenciar servidores. Ex.: OCI DevOps e Autonomous Database.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046720" y="1691640"/>
            <a:ext cx="3429000" cy="3108960"/>
          </a:xfrm>
          <a:prstGeom prst="rect">
            <a:avLst/>
          </a:prstGeom>
          <a:solidFill>
            <a:srgbClr val="FFF3F0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Software pronto para uso via navegador ou API, gerenciado pelo provedor. Ex.: Oracle Fusion Cloud e NetSuite.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Modelos de implantação de cloud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Pública, privada e híbrida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31520" y="1691640"/>
            <a:ext cx="347472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Cloud pública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Infraestrutura compartilhada, gerenciada pelo provedor, com escalabilidade e pagamento por uso.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389120" y="1691640"/>
            <a:ext cx="3474720" cy="3200400"/>
          </a:xfrm>
          <a:prstGeom prst="rect">
            <a:avLst/>
          </a:prstGeom>
          <a:solidFill>
            <a:srgbClr val="FFF3F0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Cloud privada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Infraestrutura dedicada a uma organização, com mais controle, customização, segurança e compliance.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046720" y="1691640"/>
            <a:ext cx="34290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Cloud híbrida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Combina cloud pública e privada, permitindo migração gradual e integração com ambiente local por VPN ou FastConnect.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Arquitetura da OCI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Região, AD, domínio de falha e VCN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31520" y="1572768"/>
            <a:ext cx="507492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Região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Área geográfica, como Brazil East (São Paulo).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172200" y="1572768"/>
            <a:ext cx="507492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Domínio de Disponibilidade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Datacenters independentes dentro da região.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731520" y="2871216"/>
            <a:ext cx="507492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Domínio de Falha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Agrupamento de hardware que isola falhas de rack/servidor.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6172200" y="2871216"/>
            <a:ext cx="507492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VCN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Rede privada virtual isolada com sub-redes, rotas e gateways.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68680" y="4572000"/>
            <a:ext cx="1046988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Fatos-chave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• Regiões globais e ADs independentes.</a:t>
            </a:r>
            <a:b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• Domínios de falha reduzem pontos únicos de falha.</a:t>
            </a:r>
            <a:b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• VCN organiza a rede privada dentro da região.</a:t>
            </a:r>
            <a:b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Segurança em cloud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Responsabilidades e controles principais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685800" y="1481328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Infraestrutura física, rede, hypervisor e patches de hardware.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217920" y="1481328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Dados, aplicações, identidades e configuração de rede.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85800" y="2834640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IAM e MFA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Controle de acesso com políticas e autenticação multifator.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6217920" y="2834640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Dados protegidos em repouso e em trânsito por padrão.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85800" y="4187952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Security Zones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Bloqueiam configurações inseguras automaticamente.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217920" y="4187952"/>
            <a:ext cx="5230368" cy="10241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Audit e SIEM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Logs de auditoria integráveis a ferramentas de monitoramento.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Conectividade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VPN vs FastConnect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68680" y="1691640"/>
            <a:ext cx="5120640" cy="3337560"/>
          </a:xfrm>
          <a:prstGeom prst="rect">
            <a:avLst/>
          </a:prstGeom>
          <a:solidFill>
            <a:srgbClr val="FFF3F0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VPN Site-to-Site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Baixo custo, usa internet pública, configuração rápida, latência variável e criptografia IPSec. Boa para dev/test, escritórios remotos e backup.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6217920" y="1691640"/>
            <a:ext cx="5120640" cy="3337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FastConnect dedicado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Circuito privado, custo maior, implantação mais demorada, baixa latência, banda alta e tráfego fora da internet pública. Ideal para produção crítica e migração massiva.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Alta disponibilidade na OCI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Manter o sistema funcionando mesmo quando uma parte falha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777240" y="1691640"/>
            <a:ext cx="347472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Multi-AD Deployment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Distribui instâncias entre Domínios de Disponibilidade para reduzir impacto de falhas.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434840" y="1691640"/>
            <a:ext cx="3383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Domínios de Falha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Isolam falhas de servidor e rack dentro de um AD.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8001000" y="1691640"/>
            <a:ext cx="33832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Load Balancer e DR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Health checks, failover e disaster recovery entre regiões com RPO/RTO por workload.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Multicloud e estratégia Oracle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Integração com outros provedores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822960" y="1572768"/>
            <a:ext cx="10561320" cy="1051560"/>
          </a:xfrm>
          <a:prstGeom prst="rect">
            <a:avLst/>
          </a:prstGeom>
          <a:solidFill>
            <a:srgbClr val="FFF3F0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Multicloud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Uso de dois ou mais provedores de cloud para reduzir dependência, aumentar resiliência e aproveitar o melhor de cada plataforma.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868680" y="3246120"/>
            <a:ext cx="507492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Oracle + Microsoft Azure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Interconexão OCI–Azure, baixa latência, tráfego privado e integração com Azure AD + OCI IAM.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6217920" y="3246120"/>
            <a:ext cx="507492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Oracle + Google Cloud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Conecta serviços Oracle a recursos do Google Cloud, como BigQuery e Vertex AI, com conectividade dedicada.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Vantagens competitivas da Oracle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Diferenciais de mercado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685800" y="1554480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Preços previsíveis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Cobrança clara e controle de custos.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4498848" y="1554480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Hardware dedicado e rede de alta capacidade.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8311896" y="1554480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Autonomous Database, Exadata e MySQL HeatWave.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685800" y="3493008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Sovereign Cloud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Soluções para setores regulados.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498848" y="3493008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Multicloud nativo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Parcerias e interconexões com outros provedores.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8311896" y="3493008"/>
            <a:ext cx="3474720" cy="14447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Security-first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WAF, DDoS protection, Security Zones e controles integrados.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Casos de uso do OCI Networking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Exemplos práticos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685800" y="1600200"/>
            <a:ext cx="34290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Aplicações web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Load Balancer distribui tráfego entre instâncias.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4526280" y="1600200"/>
            <a:ext cx="34290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Banco privado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Banco em subnet privada sem exposição direta à internet.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8366760" y="1600200"/>
            <a:ext cx="34290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Integração híbrida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Empresa local conectada à OCI via VPN ou FastConnect.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2514600" y="3703320"/>
            <a:ext cx="3611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Disaster Recovery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Ambiente de recuperação em outra região com failover.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6629400" y="3703320"/>
            <a:ext cx="361188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Arquitetura multicloud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Integração com Azure ou Google Cloud por interconexão dedicada.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11109960" y="630936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94360" y="411480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Desafios e fechamento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03504" y="90525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5C667A"/>
                </a:solidFill>
                <a:latin typeface="Arial"/>
                <a:ea typeface="Arial"/>
                <a:cs typeface="Arial"/>
                <a:sym typeface="Arial"/>
              </a:rPr>
              <a:t>Pontos de atenção e conclusão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594360" y="1298448"/>
            <a:ext cx="10835640" cy="18288"/>
          </a:xfrm>
          <a:prstGeom prst="rect">
            <a:avLst/>
          </a:prstGeom>
          <a:solidFill>
            <a:srgbClr val="DDE3EF"/>
          </a:solidFill>
          <a:ln cap="flat" cmpd="sng" w="9525">
            <a:solidFill>
              <a:srgbClr val="DDE3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85800" y="1508760"/>
            <a:ext cx="34290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Curva de aprendizado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Exige conhecimento de redes, rotas, subnets, segurança e cloud.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4526280" y="1508760"/>
            <a:ext cx="34290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FastConnect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Pode ter custo maior e implantação mais demorada.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8366760" y="1508760"/>
            <a:ext cx="342900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Regras de segurança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Security Lists ou NSGs mal configurados podem gerar falhas críticas.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2514600" y="3611880"/>
            <a:ext cx="361188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Planejamento de IPs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CIDRs, subnets e rotas precisam evitar conflitos.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6629400" y="3611880"/>
            <a:ext cx="3611880" cy="12618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235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  <a:t>Monitoramento</a:t>
            </a:r>
            <a:br>
              <a:rPr b="1" i="0" lang="en-US" sz="1900" u="none" cap="none" strike="noStrike">
                <a:solidFill>
                  <a:srgbClr val="1622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rgbClr val="1C2433"/>
                </a:solidFill>
                <a:latin typeface="Arial"/>
                <a:ea typeface="Arial"/>
                <a:cs typeface="Arial"/>
                <a:sym typeface="Arial"/>
              </a:rPr>
              <a:t>Produção exige logs, auditoria e acompanhamento contínuo.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685800" y="5206800"/>
            <a:ext cx="1092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900">
                <a:solidFill>
                  <a:schemeClr val="dk1"/>
                </a:solidFill>
                <a:highlight>
                  <a:srgbClr val="FFFFFF"/>
                </a:highlight>
              </a:rPr>
              <a:t>Conclusão: OCI Networking conecta, protege e sustenta a disponibilidade da infraestrutura Oracle Cloud. Obrigado!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726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/>
          <p:nvPr/>
        </p:nvSpPr>
        <p:spPr>
          <a:xfrm>
            <a:off x="150" y="6693300"/>
            <a:ext cx="12191700" cy="164700"/>
          </a:xfrm>
          <a:prstGeom prst="rect">
            <a:avLst/>
          </a:prstGeom>
          <a:solidFill>
            <a:srgbClr val="C74634"/>
          </a:solidFill>
          <a:ln cap="flat" cmpd="sng" w="9525">
            <a:solidFill>
              <a:srgbClr val="C746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4119899" y="3099750"/>
            <a:ext cx="3952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</a:rPr>
              <a:t>OBRIGADO !!!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10835640" y="5989320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AC3D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BAC3D6"/>
                </a:solidFill>
              </a:rPr>
              <a:t>15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